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7" r:id="rId4"/>
    <p:sldId id="261" r:id="rId5"/>
    <p:sldId id="273" r:id="rId6"/>
    <p:sldId id="279" r:id="rId7"/>
    <p:sldId id="280" r:id="rId8"/>
    <p:sldId id="281" r:id="rId9"/>
    <p:sldId id="282" r:id="rId10"/>
    <p:sldId id="262" r:id="rId11"/>
    <p:sldId id="275" r:id="rId12"/>
    <p:sldId id="276" r:id="rId13"/>
  </p:sldIdLst>
  <p:sldSz cx="12192000" cy="6858000"/>
  <p:notesSz cx="12192000" cy="6858000"/>
  <p:defaultTextStyle>
    <a:defPPr>
      <a:defRPr lang="pt-B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2BB39FE-9C42-69D8-04EC-AC500937AE76}">
  <a:tblStyle styleId="{C2BB39FE-9C42-69D8-04EC-AC500937AE76}" styleName="Medium Style 2 - Accent 1">
    <a:wholeTbl>
      <a:tcTxStyle>
        <a:fontRef idx="minor"/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/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/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/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/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 userDrawn="1">
  <p:cSld name="Slide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 bwMode="auto"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 bwMode="auto"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>
              <a:defRPr/>
            </a:pPr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4F23C442-C616-4505-B16A-331FB15D015A}" type="datetimeFigureOut">
              <a:rPr lang="pt-BR"/>
              <a:t>21/08/2026</a:t>
            </a:fld>
            <a:endParaRPr lang="pt-BR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0AC8DE4D-3148-4659-A29B-43587D10C453}" type="slidenum">
              <a:rPr lang="pt-BR"/>
              <a:t>‹nº›</a:t>
            </a:fld>
            <a:endParaRPr lang="pt-BR"/>
          </a:p>
        </p:txBody>
      </p:sp>
      <p:sp>
        <p:nvSpPr>
          <p:cNvPr id="9" name="Rectangle 6"/>
          <p:cNvSpPr/>
          <p:nvPr/>
        </p:nvSpPr>
        <p:spPr bwMode="auto"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ítulo e conteúd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F23C442-C616-4505-B16A-331FB15D015A}" type="datetimeFigureOut">
              <a:rPr lang="pt-BR"/>
              <a:t>21/08/2026</a:t>
            </a:fld>
            <a:endParaRPr lang="pt-BR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C8DE4D-3148-4659-A29B-43587D10C453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Cabeçalho da Se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F23C442-C616-4505-B16A-331FB15D015A}" type="datetimeFigureOut">
              <a:rPr lang="pt-BR"/>
              <a:t>21/08/2026</a:t>
            </a:fld>
            <a:endParaRPr lang="pt-BR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C8DE4D-3148-4659-A29B-43587D10C453}" type="slidenum">
              <a:rPr lang="pt-BR"/>
              <a:t>‹nº›</a:t>
            </a:fld>
            <a:endParaRPr lang="pt-BR"/>
          </a:p>
        </p:txBody>
      </p:sp>
      <p:sp>
        <p:nvSpPr>
          <p:cNvPr id="9" name="Rectangle 6"/>
          <p:cNvSpPr/>
          <p:nvPr/>
        </p:nvSpPr>
        <p:spPr bwMode="auto"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Duas Partes de Conteúd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F23C442-C616-4505-B16A-331FB15D015A}" type="datetimeFigureOut">
              <a:rPr lang="pt-BR"/>
              <a:t>21/08/2026</a:t>
            </a:fld>
            <a:endParaRPr lang="pt-BR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C8DE4D-3148-4659-A29B-43587D10C453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a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>
              <a:lnSpc>
                <a:spcPct val="90000"/>
              </a:lnSpc>
              <a:spcBef>
                <a:spcPts val="2000"/>
              </a:spcBef>
              <a:buFontTx/>
              <a:buNone/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F23C442-C616-4505-B16A-331FB15D015A}" type="datetimeFigureOut">
              <a:rPr lang="pt-BR"/>
              <a:t>21/08/2026</a:t>
            </a:fld>
            <a:endParaRPr lang="pt-BR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C8DE4D-3148-4659-A29B-43587D10C453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Soment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5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F23C442-C616-4505-B16A-331FB15D015A}" type="datetimeFigureOut">
              <a:rPr lang="pt-BR"/>
              <a:t>21/08/2026</a:t>
            </a:fld>
            <a:endParaRPr lang="pt-BR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C8DE4D-3148-4659-A29B-43587D10C453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Em br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F23C442-C616-4505-B16A-331FB15D015A}" type="datetimeFigureOut">
              <a:rPr lang="pt-BR"/>
              <a:t>21/08/2026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C8DE4D-3148-4659-A29B-43587D10C453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údo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 bwMode="auto"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3999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F23C442-C616-4505-B16A-331FB15D015A}" type="datetimeFigureOut">
              <a:rPr lang="pt-BR"/>
              <a:t>21/08/2026</a:t>
            </a:fld>
            <a:endParaRPr lang="pt-BR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C8DE4D-3148-4659-A29B-43587D10C453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Imagem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/>
          <p:nvPr/>
        </p:nvSpPr>
        <p:spPr bwMode="auto">
          <a:xfrm>
            <a:off x="0" y="5105400"/>
            <a:ext cx="11292840" cy="17525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itle 1"/>
          <p:cNvSpPr>
            <a:spLocks noGrp="1"/>
          </p:cNvSpPr>
          <p:nvPr>
            <p:ph type="title"/>
          </p:nvPr>
        </p:nvSpPr>
        <p:spPr bwMode="auto"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0" y="0"/>
            <a:ext cx="11292840" cy="5128923"/>
          </a:xfrm>
          <a:prstGeom prst="rect">
            <a:avLst/>
          </a:prstGeom>
          <a:blipFill>
            <a:blip r:embed="rId2"/>
            <a:stretch/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F23C442-C616-4505-B16A-331FB15D015A}" type="datetimeFigureOut">
              <a:rPr lang="pt-BR"/>
              <a:t>21/08/2026</a:t>
            </a:fld>
            <a:endParaRPr lang="pt-BR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C8DE4D-3148-4659-A29B-43587D10C453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ítulo e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F23C442-C616-4505-B16A-331FB15D015A}" type="datetimeFigureOut">
              <a:rPr lang="pt-BR"/>
              <a:t>21/08/2026</a:t>
            </a:fld>
            <a:endParaRPr lang="pt-BR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C8DE4D-3148-4659-A29B-43587D10C453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Título e texto vertica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648700" y="381000"/>
            <a:ext cx="2476500" cy="5897562"/>
          </a:xfrm>
        </p:spPr>
        <p:txBody>
          <a:bodyPr vert="eaVert"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762000" y="381000"/>
            <a:ext cx="7734300" cy="5897562"/>
          </a:xfrm>
        </p:spPr>
        <p:txBody>
          <a:bodyPr vert="eaVert"/>
          <a:lstStyle/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F23C442-C616-4505-B16A-331FB15D015A}" type="datetimeFigureOut">
              <a:rPr lang="pt-BR"/>
              <a:t>21/08/2026</a:t>
            </a:fld>
            <a:endParaRPr lang="pt-BR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AC8DE4D-3148-4659-A29B-43587D10C453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 bwMode="auto"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 bwMode="auto"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 bwMode="auto">
          <a:xfrm rot="16199999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pPr>
              <a:defRPr/>
            </a:pPr>
            <a:fld id="{4F23C442-C616-4505-B16A-331FB15D015A}" type="datetimeFigureOut">
              <a:rPr lang="pt-BR"/>
              <a:t>21/08/2026</a:t>
            </a:fld>
            <a:endParaRPr lang="pt-BR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 bwMode="auto">
          <a:xfrm rot="16199999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>
              <a:defRPr/>
            </a:pPr>
            <a:fld id="{0AC8DE4D-3148-4659-A29B-43587D10C453}" type="slidenum">
              <a:rPr lang="pt-BR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 spc="-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/>
        <a:buChar char="•"/>
        <a:defRPr sz="1800" spc="1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/>
        <a:buChar char=""/>
        <a:defRPr sz="16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/>
        <a:buChar char=""/>
        <a:defRPr sz="14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/>
        <a:buChar char=""/>
        <a:defRPr sz="14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/>
        <a:buChar char=""/>
        <a:defRPr sz="14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/>
        <a:buChar char=""/>
        <a:defRPr sz="14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/>
        <a:buChar char=""/>
        <a:defRPr sz="14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/>
        <a:buChar char=""/>
        <a:defRPr sz="14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/>
        <a:buChar char=""/>
        <a:defRPr sz="14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gradFill>
          <a:gsLst>
            <a:gs pos="0">
              <a:srgbClr val="007000">
                <a:lumMod val="99000"/>
                <a:lumOff val="1000"/>
                <a:alpha val="76000"/>
              </a:srgbClr>
            </a:gs>
            <a:gs pos="100000">
              <a:srgbClr val="006000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ctr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6000"/>
              <a:t>Projeto e Desenvolvimento de Sistemas II</a:t>
            </a:r>
            <a:endParaRPr/>
          </a:p>
        </p:txBody>
      </p:sp>
      <p:sp>
        <p:nvSpPr>
          <p:cNvPr id="5" name="Subtítulo 2"/>
          <p:cNvSpPr>
            <a:spLocks noGrp="1"/>
          </p:cNvSpPr>
          <p:nvPr>
            <p:ph type="subTitle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2000">
                <a:solidFill>
                  <a:schemeClr val="tx1"/>
                </a:solidFill>
              </a:rPr>
              <a:t>Tecnologia em Análise e Desenvolvimento de Sistemas</a:t>
            </a:r>
            <a:endParaRPr/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680192" y="0"/>
            <a:ext cx="1511808" cy="1750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t>Calendário</a:t>
            </a:r>
          </a:p>
        </p:txBody>
      </p:sp>
      <p:pic>
        <p:nvPicPr>
          <p:cNvPr id="5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ela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0589463"/>
              </p:ext>
            </p:extLst>
          </p:nvPr>
        </p:nvGraphicFramePr>
        <p:xfrm>
          <a:off x="45688" y="1691321"/>
          <a:ext cx="11090872" cy="5029200"/>
        </p:xfrm>
        <a:graphic>
          <a:graphicData uri="http://schemas.openxmlformats.org/drawingml/2006/table">
            <a:tbl>
              <a:tblPr firstRow="1" bandRow="1">
                <a:tableStyleId>{C2BB39FE-9C42-69D8-04EC-AC500937AE76}</a:tableStyleId>
              </a:tblPr>
              <a:tblGrid>
                <a:gridCol w="1835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61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/>
                        <a:t>Atividade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j-lt"/>
                        </a:rPr>
                        <a:t>24/</a:t>
                      </a:r>
                      <a:r>
                        <a:rPr lang="pt-BR" sz="2400" b="0" i="0" u="none" strike="noStrike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j-lt"/>
                        </a:rPr>
                        <a:t>jul</a:t>
                      </a:r>
                      <a:endParaRPr lang="pt-BR" sz="24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Definição</a:t>
                      </a:r>
                      <a:r>
                        <a:rPr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das equipes e </a:t>
                      </a:r>
                      <a:r>
                        <a:rPr sz="240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início</a:t>
                      </a:r>
                      <a:r>
                        <a:rPr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da </a:t>
                      </a:r>
                      <a:r>
                        <a:rPr sz="240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etapa</a:t>
                      </a:r>
                      <a:endParaRPr sz="2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j-lt"/>
                        </a:rPr>
                        <a:t>31/</a:t>
                      </a:r>
                      <a:r>
                        <a:rPr lang="pt-BR" sz="2400" b="0" i="0" u="none" strike="noStrike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j-lt"/>
                        </a:rPr>
                        <a:t>jul</a:t>
                      </a:r>
                      <a:endParaRPr lang="pt-BR" sz="24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Desenvolvimento</a:t>
                      </a:r>
                      <a:r>
                        <a:rPr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 da </a:t>
                      </a:r>
                      <a:r>
                        <a:rPr sz="2400" dirty="0" err="1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etapa</a:t>
                      </a:r>
                      <a:endParaRPr sz="2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j-lt"/>
                        </a:rPr>
                        <a:t>07/</a:t>
                      </a:r>
                      <a:r>
                        <a:rPr lang="pt-BR" sz="2400" b="0" i="0" u="none" strike="noStrike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j-lt"/>
                        </a:rPr>
                        <a:t>ago</a:t>
                      </a:r>
                      <a:endParaRPr lang="pt-BR" sz="24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Desenvolvimento da etapa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j-lt"/>
                        </a:rPr>
                        <a:t>14/</a:t>
                      </a:r>
                      <a:r>
                        <a:rPr lang="pt-BR" sz="2400" b="0" i="0" u="none" strike="noStrike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j-lt"/>
                        </a:rPr>
                        <a:t>ago</a:t>
                      </a:r>
                      <a:endParaRPr lang="pt-BR" sz="24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pt-BR"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AP</a:t>
                      </a:r>
                      <a:endParaRPr sz="2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2400" b="0" i="0" u="none" strike="noStrike" cap="none" spc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Apresentação da etapa</a:t>
                      </a:r>
                      <a:endParaRPr lang="pt-BR" sz="2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21/</a:t>
                      </a:r>
                      <a:r>
                        <a:rPr lang="pt-BR" sz="24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ago</a:t>
                      </a:r>
                      <a:endParaRPr lang="pt-BR" sz="24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>
                          <a:solidFill>
                            <a:schemeClr val="tx1"/>
                          </a:solidFill>
                        </a:rPr>
                        <a:t>Di1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2400" b="0" i="0" u="none" strike="noStrike" cap="none" spc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Definição dos requisitos e início da etapa</a:t>
                      </a:r>
                      <a:endParaRPr lang="pt-BR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04/set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>
                          <a:solidFill>
                            <a:schemeClr val="tx1"/>
                          </a:solidFill>
                        </a:rPr>
                        <a:t>Di1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0" i="0" u="none" strike="noStrike" cap="none" spc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Desenvolvimento da etapa</a:t>
                      </a:r>
                      <a:endParaRPr lang="pt-BR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11/set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>
                          <a:solidFill>
                            <a:schemeClr val="tx1"/>
                          </a:solidFill>
                        </a:rPr>
                        <a:t>Di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2400" b="0" i="0" u="none" strike="noStrike" cap="none" spc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Desenvolvimento da etapa</a:t>
                      </a:r>
                      <a:endParaRPr lang="pt-BR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18/set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>
                          <a:solidFill>
                            <a:schemeClr val="tx1"/>
                          </a:solidFill>
                        </a:rPr>
                        <a:t>Di</a:t>
                      </a:r>
                      <a:r>
                        <a:rPr lang="pt-BR"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2400" b="0" i="0" u="none" strike="noStrike" cap="none" spc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Entrega da etapa</a:t>
                      </a:r>
                      <a:endParaRPr lang="pt-BR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j-lt"/>
                        </a:rPr>
                        <a:t>25/set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Di2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2400" b="0" i="0" u="none" strike="noStrike" cap="none" spc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Definição dos requisitos e início da etapa</a:t>
                      </a:r>
                      <a:endParaRPr lang="pt-BR" sz="2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j-lt"/>
                        </a:rPr>
                        <a:t>02/out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Di</a:t>
                      </a:r>
                      <a:r>
                        <a:rPr lang="pt-BR"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  <a:endParaRPr sz="2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0" i="0" u="none" strike="noStrike" cap="none" spc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Desenvolvimento da etapa</a:t>
                      </a:r>
                      <a:endParaRPr lang="pt-BR" sz="2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t>Calendário</a:t>
            </a:r>
          </a:p>
        </p:txBody>
      </p:sp>
      <p:pic>
        <p:nvPicPr>
          <p:cNvPr id="5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ela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11280362"/>
              </p:ext>
            </p:extLst>
          </p:nvPr>
        </p:nvGraphicFramePr>
        <p:xfrm>
          <a:off x="45688" y="1691321"/>
          <a:ext cx="11090872" cy="5029200"/>
        </p:xfrm>
        <a:graphic>
          <a:graphicData uri="http://schemas.openxmlformats.org/drawingml/2006/table">
            <a:tbl>
              <a:tblPr firstRow="1" bandRow="1">
                <a:tableStyleId>{C2BB39FE-9C42-69D8-04EC-AC500937AE76}</a:tableStyleId>
              </a:tblPr>
              <a:tblGrid>
                <a:gridCol w="1835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9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61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5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sz="2400"/>
                        <a:t>Atividade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j-lt"/>
                        </a:rPr>
                        <a:t>03/out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Di</a:t>
                      </a:r>
                      <a:r>
                        <a:rPr lang="pt-BR"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  <a:endParaRPr sz="2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2400" b="0" i="0" u="none" strike="noStrike" cap="none" spc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Desenvolvimento da etapa</a:t>
                      </a:r>
                      <a:endParaRPr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j-lt"/>
                        </a:rPr>
                        <a:t>09/out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Di</a:t>
                      </a:r>
                      <a:r>
                        <a:rPr lang="pt-BR"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  <a:endParaRPr sz="2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Entrega da etapa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j-lt"/>
                        </a:rPr>
                        <a:t>16/out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Di</a:t>
                      </a:r>
                      <a:r>
                        <a:rPr lang="pt-BR"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  <a:endParaRPr sz="2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2400" b="0" i="0" u="none" strike="noStrike" cap="none" spc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Definição dos requisitos e início da etapa</a:t>
                      </a:r>
                      <a:endParaRPr lang="pt-BR" sz="2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j-lt"/>
                        </a:rPr>
                        <a:t>23/out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Di</a:t>
                      </a:r>
                      <a:r>
                        <a:rPr lang="pt-BR"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  <a:endParaRPr sz="2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2400" b="0" i="0" u="none" strike="noStrike" cap="none" spc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Desenvolvimento da etapa</a:t>
                      </a:r>
                      <a:endParaRPr lang="pt-BR" sz="2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j-lt"/>
                        </a:rPr>
                        <a:t>30/out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Di</a:t>
                      </a:r>
                      <a:r>
                        <a:rPr lang="pt-BR"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  <a:endParaRPr sz="2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2400" b="0" i="0" u="none" strike="noStrike" cap="none" spc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Desenvolvimento da etapa</a:t>
                      </a:r>
                      <a:endParaRPr lang="pt-BR" sz="2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j-lt"/>
                        </a:rPr>
                        <a:t>06/</a:t>
                      </a:r>
                      <a:r>
                        <a:rPr lang="pt-BR" sz="2400" b="0" i="0" u="none" strike="noStrike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j-lt"/>
                        </a:rPr>
                        <a:t>nov</a:t>
                      </a:r>
                      <a:endParaRPr lang="pt-BR" sz="24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pt-BR"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Di3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pt-BR"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Entrega da etapa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j-lt"/>
                        </a:rPr>
                        <a:t>13/</a:t>
                      </a:r>
                      <a:r>
                        <a:rPr lang="pt-BR" sz="2400" b="0" i="0" u="none" strike="noStrike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j-lt"/>
                        </a:rPr>
                        <a:t>nov</a:t>
                      </a:r>
                      <a:endParaRPr lang="pt-BR" sz="24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pt-BR"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Início da etapa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j-lt"/>
                        </a:rPr>
                        <a:t>27/</a:t>
                      </a:r>
                      <a:r>
                        <a:rPr lang="pt-BR" sz="2400" b="0" i="0" u="none" strike="noStrike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j-lt"/>
                        </a:rPr>
                        <a:t>nov</a:t>
                      </a:r>
                      <a:endParaRPr lang="pt-BR" sz="2400" b="0" i="0" u="none" strike="noStrike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pt-BR"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AF</a:t>
                      </a:r>
                      <a:endParaRPr sz="2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Entrega da etapa - Apresentação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j-lt"/>
                        </a:rPr>
                        <a:t>04/dez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pt-BR"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-</a:t>
                      </a:r>
                      <a:endParaRPr sz="2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Revisão da disciplina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algn="ctr" fontAlgn="b"/>
                      <a:r>
                        <a:rPr lang="pt-BR" sz="2400" b="0" i="0" u="none" strike="noStrike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+mj-lt"/>
                        </a:rPr>
                        <a:t>11/dez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pt-BR"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-</a:t>
                      </a:r>
                      <a:endParaRPr sz="24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Encerramento da disciplina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108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4800" dirty="0"/>
              <a:t>Incremento 1</a:t>
            </a:r>
            <a:endParaRPr dirty="0"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744603" y="1828800"/>
            <a:ext cx="10338109" cy="5024553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Autofit/>
          </a:bodyPr>
          <a:lstStyle/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sz="3400" dirty="0">
                <a:solidFill>
                  <a:schemeClr val="tx1"/>
                </a:solidFill>
              </a:rPr>
              <a:t>Valor: </a:t>
            </a:r>
            <a:r>
              <a:rPr lang="pt-BR" sz="3400" dirty="0">
                <a:solidFill>
                  <a:schemeClr val="tx1"/>
                </a:solidFill>
              </a:rPr>
              <a:t>1,5</a:t>
            </a:r>
            <a:r>
              <a:rPr sz="3400" dirty="0">
                <a:solidFill>
                  <a:schemeClr val="tx1"/>
                </a:solidFill>
              </a:rPr>
              <a:t> </a:t>
            </a:r>
            <a:r>
              <a:rPr lang="pt-BR" sz="3400" dirty="0">
                <a:solidFill>
                  <a:schemeClr val="tx1"/>
                </a:solidFill>
              </a:rPr>
              <a:t>ponto</a:t>
            </a:r>
            <a:r>
              <a:rPr sz="3400" dirty="0">
                <a:solidFill>
                  <a:schemeClr val="tx1"/>
                </a:solidFill>
              </a:rPr>
              <a:t> de 10 (</a:t>
            </a:r>
            <a:r>
              <a:rPr lang="pt-BR" sz="3400" dirty="0">
                <a:solidFill>
                  <a:schemeClr val="tx1"/>
                </a:solidFill>
              </a:rPr>
              <a:t>15</a:t>
            </a:r>
            <a:r>
              <a:rPr sz="3400" dirty="0">
                <a:solidFill>
                  <a:schemeClr val="tx1"/>
                </a:solidFill>
              </a:rPr>
              <a:t>% da </a:t>
            </a:r>
            <a:r>
              <a:rPr sz="3400" dirty="0" err="1">
                <a:solidFill>
                  <a:schemeClr val="tx1"/>
                </a:solidFill>
              </a:rPr>
              <a:t>média</a:t>
            </a:r>
            <a:r>
              <a:rPr sz="3400" dirty="0">
                <a:solidFill>
                  <a:schemeClr val="tx1"/>
                </a:solidFill>
              </a:rPr>
              <a:t> final)</a:t>
            </a:r>
            <a:r>
              <a:rPr lang="pt-BR" sz="3400" dirty="0">
                <a:solidFill>
                  <a:schemeClr val="tx1"/>
                </a:solidFill>
              </a:rPr>
              <a:t>.</a:t>
            </a:r>
          </a:p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3400" dirty="0">
                <a:solidFill>
                  <a:schemeClr val="tx1"/>
                </a:solidFill>
              </a:rPr>
              <a:t>Objetivos (etapa):</a:t>
            </a:r>
          </a:p>
          <a:p>
            <a:pPr marL="964690" lvl="2" indent="-416050">
              <a:buClr>
                <a:schemeClr val="accent1"/>
              </a:buClr>
              <a:buFont typeface="Arial"/>
              <a:buAutoNum type="arabicPeriod"/>
              <a:defRPr/>
            </a:pPr>
            <a:r>
              <a:rPr lang="pt-BR" sz="3200" dirty="0">
                <a:solidFill>
                  <a:schemeClr val="tx1"/>
                </a:solidFill>
              </a:rPr>
              <a:t>Levantar requisitos de acordo com o requisitado;</a:t>
            </a:r>
          </a:p>
          <a:p>
            <a:pPr marL="964690" lvl="2" indent="-416050">
              <a:buClr>
                <a:schemeClr val="accent1"/>
              </a:buClr>
              <a:buFont typeface="Arial"/>
              <a:buAutoNum type="arabicPeriod"/>
              <a:defRPr/>
            </a:pPr>
            <a:r>
              <a:rPr lang="pt-BR" sz="3200" dirty="0">
                <a:solidFill>
                  <a:schemeClr val="tx1"/>
                </a:solidFill>
              </a:rPr>
              <a:t>Produzir documentação coerente com os requisitos levantados e o código desenvolvido;</a:t>
            </a:r>
            <a:endParaRPr lang="pt-BR" sz="3200" i="0" dirty="0">
              <a:solidFill>
                <a:schemeClr val="tx1"/>
              </a:solidFill>
            </a:endParaRPr>
          </a:p>
          <a:p>
            <a:pPr marL="964690" lvl="2" indent="-416050">
              <a:buClr>
                <a:schemeClr val="accent1"/>
              </a:buClr>
              <a:buFont typeface="Arial"/>
              <a:buAutoNum type="arabicPeriod"/>
              <a:defRPr/>
            </a:pPr>
            <a:r>
              <a:rPr lang="pt-BR" sz="3200" i="0" dirty="0">
                <a:solidFill>
                  <a:schemeClr val="tx1"/>
                </a:solidFill>
              </a:rPr>
              <a:t>Produzir código que cumpra os requisitos levantados e esteja de acordo com a documentação produzida.</a:t>
            </a:r>
            <a:endParaRPr sz="3200" i="0" dirty="0">
              <a:solidFill>
                <a:schemeClr val="tx1"/>
              </a:solidFill>
            </a:endParaRPr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744603" y="1828801"/>
            <a:ext cx="10338109" cy="4408512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Autofit/>
          </a:bodyPr>
          <a:lstStyle/>
          <a:p>
            <a:pPr>
              <a:defRPr/>
            </a:pPr>
            <a:r>
              <a:rPr lang="pt-BR" sz="3600" dirty="0">
                <a:solidFill>
                  <a:schemeClr val="tx1"/>
                </a:solidFill>
              </a:rPr>
              <a:t>Usuário realiza o cadastro de uma nova organização;</a:t>
            </a:r>
          </a:p>
          <a:p>
            <a:pPr>
              <a:defRPr/>
            </a:pPr>
            <a:r>
              <a:rPr lang="pt-BR" sz="3600" dirty="0"/>
              <a:t>Administrador do sistema autoriza/revoga o cadastro da organização.</a:t>
            </a:r>
          </a:p>
          <a:p>
            <a:pPr>
              <a:defRPr/>
            </a:pPr>
            <a:r>
              <a:rPr lang="pt-BR" sz="3600" dirty="0">
                <a:solidFill>
                  <a:schemeClr val="tx1"/>
                </a:solidFill>
              </a:rPr>
              <a:t>Administrador realiza gerenciamento de organizações.</a:t>
            </a:r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76557304-C278-6406-79F5-EC6B88B0E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365760"/>
            <a:ext cx="10547144" cy="1325562"/>
          </a:xfrm>
        </p:spPr>
        <p:txBody>
          <a:bodyPr>
            <a:normAutofit/>
          </a:bodyPr>
          <a:lstStyle/>
          <a:p>
            <a:r>
              <a:rPr lang="pt-BR" sz="4800" dirty="0"/>
              <a:t>Incremento 1 – Cadastro de organização</a:t>
            </a:r>
          </a:p>
        </p:txBody>
      </p:sp>
    </p:spTree>
    <p:extLst>
      <p:ext uri="{BB962C8B-B14F-4D97-AF65-F5344CB8AC3E}">
        <p14:creationId xmlns:p14="http://schemas.microsoft.com/office/powerpoint/2010/main" val="3472470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744603" y="1828801"/>
            <a:ext cx="10338109" cy="4408512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Autofit/>
          </a:bodyPr>
          <a:lstStyle/>
          <a:p>
            <a:pPr>
              <a:defRPr/>
            </a:pPr>
            <a:r>
              <a:rPr lang="pt-BR" sz="3600" dirty="0">
                <a:solidFill>
                  <a:schemeClr val="tx1"/>
                </a:solidFill>
              </a:rPr>
              <a:t>Administrador da organização cadastra uma nova comissão/grupo de trabalho/etc. dentro da organização.</a:t>
            </a:r>
          </a:p>
          <a:p>
            <a:pPr>
              <a:defRPr/>
            </a:pPr>
            <a:r>
              <a:rPr lang="pt-BR" sz="3600" dirty="0"/>
              <a:t>Administrador da organização gerencia comissões.</a:t>
            </a:r>
            <a:endParaRPr lang="pt-BR" sz="360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pt-BR" sz="3600" dirty="0"/>
              <a:t>Administrador da organização gerencia equipe da comissão.</a:t>
            </a:r>
            <a:endParaRPr lang="pt-BR" sz="3600" dirty="0">
              <a:solidFill>
                <a:schemeClr val="tx1"/>
              </a:solidFill>
            </a:endParaRPr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76557304-C278-6406-79F5-EC6B88B0E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365760"/>
            <a:ext cx="10547144" cy="1325562"/>
          </a:xfrm>
        </p:spPr>
        <p:txBody>
          <a:bodyPr>
            <a:normAutofit/>
          </a:bodyPr>
          <a:lstStyle/>
          <a:p>
            <a:r>
              <a:rPr lang="pt-BR" sz="4800" dirty="0"/>
              <a:t>Incremento 1 – Cadastro de comissão</a:t>
            </a:r>
          </a:p>
        </p:txBody>
      </p:sp>
    </p:spTree>
    <p:extLst>
      <p:ext uri="{BB962C8B-B14F-4D97-AF65-F5344CB8AC3E}">
        <p14:creationId xmlns:p14="http://schemas.microsoft.com/office/powerpoint/2010/main" val="12547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744603" y="1828801"/>
            <a:ext cx="10338109" cy="4408512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Autofit/>
          </a:bodyPr>
          <a:lstStyle/>
          <a:p>
            <a:pPr>
              <a:defRPr/>
            </a:pPr>
            <a:r>
              <a:rPr lang="pt-BR" sz="3600" dirty="0">
                <a:solidFill>
                  <a:schemeClr val="tx1"/>
                </a:solidFill>
              </a:rPr>
              <a:t>Usuário se cadastra na plataforma.</a:t>
            </a:r>
          </a:p>
          <a:p>
            <a:pPr>
              <a:defRPr/>
            </a:pPr>
            <a:r>
              <a:rPr lang="pt-BR" sz="3600" dirty="0"/>
              <a:t>Solicitação de acesso em uma organização (administrador da organização deve aprovar/rejeitar).</a:t>
            </a:r>
          </a:p>
          <a:p>
            <a:pPr>
              <a:defRPr/>
            </a:pPr>
            <a:r>
              <a:rPr lang="pt-BR" sz="3600" dirty="0"/>
              <a:t>Administrador da organização gerencia usuários dentro da organização.</a:t>
            </a:r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76557304-C278-6406-79F5-EC6B88B0E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365760"/>
            <a:ext cx="10547144" cy="1325562"/>
          </a:xfrm>
        </p:spPr>
        <p:txBody>
          <a:bodyPr>
            <a:normAutofit/>
          </a:bodyPr>
          <a:lstStyle/>
          <a:p>
            <a:r>
              <a:rPr lang="pt-BR" sz="4800" dirty="0"/>
              <a:t>Incremento 1 – Cadastro de usuário</a:t>
            </a:r>
          </a:p>
        </p:txBody>
      </p:sp>
    </p:spTree>
    <p:extLst>
      <p:ext uri="{BB962C8B-B14F-4D97-AF65-F5344CB8AC3E}">
        <p14:creationId xmlns:p14="http://schemas.microsoft.com/office/powerpoint/2010/main" val="2685569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744603" y="1828801"/>
            <a:ext cx="10338109" cy="4408512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Autofit/>
          </a:bodyPr>
          <a:lstStyle/>
          <a:p>
            <a:pPr>
              <a:defRPr/>
            </a:pPr>
            <a:r>
              <a:rPr lang="pt-BR" sz="3600" dirty="0">
                <a:solidFill>
                  <a:schemeClr val="tx1"/>
                </a:solidFill>
              </a:rPr>
              <a:t>Troca de senha de usuário</a:t>
            </a:r>
            <a:r>
              <a:rPr lang="pt-BR" sz="3600" dirty="0"/>
              <a:t>.</a:t>
            </a:r>
          </a:p>
          <a:p>
            <a:pPr>
              <a:defRPr/>
            </a:pPr>
            <a:r>
              <a:rPr lang="pt-BR" sz="3600" dirty="0">
                <a:solidFill>
                  <a:schemeClr val="tx1"/>
                </a:solidFill>
              </a:rPr>
              <a:t>Recuperação de </a:t>
            </a:r>
            <a:r>
              <a:rPr lang="pt-BR" sz="3600" dirty="0"/>
              <a:t>conta.</a:t>
            </a:r>
          </a:p>
          <a:p>
            <a:pPr>
              <a:defRPr/>
            </a:pPr>
            <a:r>
              <a:rPr lang="pt-BR" sz="3600" dirty="0">
                <a:solidFill>
                  <a:schemeClr val="tx1"/>
                </a:solidFill>
              </a:rPr>
              <a:t>Alteração de dados pessoais.</a:t>
            </a:r>
          </a:p>
          <a:p>
            <a:pPr>
              <a:defRPr/>
            </a:pPr>
            <a:r>
              <a:rPr lang="pt-BR" sz="3600" dirty="0"/>
              <a:t>Tema preferido do aplicativo.</a:t>
            </a:r>
            <a:endParaRPr lang="pt-BR" sz="3600" dirty="0">
              <a:solidFill>
                <a:schemeClr val="tx1"/>
              </a:solidFill>
            </a:endParaRPr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76557304-C278-6406-79F5-EC6B88B0E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365760"/>
            <a:ext cx="10547144" cy="1325562"/>
          </a:xfrm>
        </p:spPr>
        <p:txBody>
          <a:bodyPr>
            <a:normAutofit/>
          </a:bodyPr>
          <a:lstStyle/>
          <a:p>
            <a:r>
              <a:rPr lang="pt-BR" sz="4800" dirty="0"/>
              <a:t>Incremento 1 – Configurações de usuário</a:t>
            </a:r>
          </a:p>
        </p:txBody>
      </p:sp>
    </p:spTree>
    <p:extLst>
      <p:ext uri="{BB962C8B-B14F-4D97-AF65-F5344CB8AC3E}">
        <p14:creationId xmlns:p14="http://schemas.microsoft.com/office/powerpoint/2010/main" val="84278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744603" y="1828801"/>
            <a:ext cx="10338109" cy="4408512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Autofit/>
          </a:bodyPr>
          <a:lstStyle/>
          <a:p>
            <a:pPr>
              <a:defRPr/>
            </a:pPr>
            <a:r>
              <a:rPr lang="pt-BR" sz="3600" dirty="0">
                <a:solidFill>
                  <a:schemeClr val="tx1"/>
                </a:solidFill>
              </a:rPr>
              <a:t>Status do sistema e dos seus subsistemas.</a:t>
            </a:r>
          </a:p>
          <a:p>
            <a:pPr>
              <a:defRPr/>
            </a:pPr>
            <a:r>
              <a:rPr lang="pt-BR" sz="3600" dirty="0">
                <a:solidFill>
                  <a:schemeClr val="tx1"/>
                </a:solidFill>
              </a:rPr>
              <a:t>Relatórios de usuários/organizações/comissões/etc.</a:t>
            </a:r>
          </a:p>
          <a:p>
            <a:pPr>
              <a:defRPr/>
            </a:pPr>
            <a:r>
              <a:rPr lang="pt-BR" sz="3600" dirty="0"/>
              <a:t>Reinicialização de subsistemas.</a:t>
            </a:r>
          </a:p>
          <a:p>
            <a:pPr>
              <a:defRPr/>
            </a:pPr>
            <a:r>
              <a:rPr lang="pt-BR" sz="3600" dirty="0">
                <a:solidFill>
                  <a:schemeClr val="tx1"/>
                </a:solidFill>
              </a:rPr>
              <a:t>Setup inicial e inicialização do sistema.</a:t>
            </a:r>
          </a:p>
          <a:p>
            <a:pPr>
              <a:defRPr/>
            </a:pPr>
            <a:r>
              <a:rPr lang="pt-BR" sz="3600" dirty="0"/>
              <a:t>Reset do sistema.</a:t>
            </a:r>
            <a:endParaRPr lang="pt-BR" sz="3600" dirty="0">
              <a:solidFill>
                <a:schemeClr val="tx1"/>
              </a:solidFill>
            </a:endParaRPr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76557304-C278-6406-79F5-EC6B88B0E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365760"/>
            <a:ext cx="10547144" cy="1325562"/>
          </a:xfrm>
        </p:spPr>
        <p:txBody>
          <a:bodyPr>
            <a:normAutofit/>
          </a:bodyPr>
          <a:lstStyle/>
          <a:p>
            <a:r>
              <a:rPr lang="pt-BR" sz="4800" dirty="0"/>
              <a:t>Incremento 1 – Informações do sistema</a:t>
            </a:r>
          </a:p>
        </p:txBody>
      </p:sp>
    </p:spTree>
    <p:extLst>
      <p:ext uri="{BB962C8B-B14F-4D97-AF65-F5344CB8AC3E}">
        <p14:creationId xmlns:p14="http://schemas.microsoft.com/office/powerpoint/2010/main" val="2279391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4800" dirty="0"/>
              <a:t>Incremento 1</a:t>
            </a:r>
            <a:endParaRPr dirty="0"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290548" y="1828801"/>
            <a:ext cx="9304298" cy="4480520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 fontScale="92500" lnSpcReduction="20000"/>
          </a:bodyPr>
          <a:lstStyle/>
          <a:p>
            <a:pPr lvl="1">
              <a:buClr>
                <a:schemeClr val="accent1"/>
              </a:buClr>
              <a:buFont typeface="Arial"/>
              <a:buChar char="•"/>
              <a:defRPr/>
            </a:pPr>
            <a:r>
              <a:rPr sz="3200" dirty="0">
                <a:solidFill>
                  <a:schemeClr val="tx1"/>
                </a:solidFill>
              </a:rPr>
              <a:t>Forma de </a:t>
            </a:r>
            <a:r>
              <a:rPr lang="pt-BR" sz="3200" dirty="0">
                <a:solidFill>
                  <a:schemeClr val="tx1"/>
                </a:solidFill>
              </a:rPr>
              <a:t>avaliação</a:t>
            </a:r>
          </a:p>
          <a:p>
            <a:pPr lvl="2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2800" dirty="0">
                <a:solidFill>
                  <a:schemeClr val="tx1"/>
                </a:solidFill>
              </a:rPr>
              <a:t>Documentação de acordo com o levantamento realizado;</a:t>
            </a:r>
          </a:p>
          <a:p>
            <a:pPr lvl="2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2800" i="0" dirty="0">
                <a:solidFill>
                  <a:schemeClr val="tx1"/>
                </a:solidFill>
              </a:rPr>
              <a:t>Código-fonte de acordo com a documentação;</a:t>
            </a:r>
          </a:p>
          <a:p>
            <a:pPr lvl="2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2800" dirty="0">
                <a:solidFill>
                  <a:schemeClr val="tx1"/>
                </a:solidFill>
              </a:rPr>
              <a:t>Documentação deve estar completa e correta;</a:t>
            </a:r>
          </a:p>
          <a:p>
            <a:pPr lvl="2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2800" i="0" dirty="0">
                <a:solidFill>
                  <a:schemeClr val="tx1"/>
                </a:solidFill>
              </a:rPr>
              <a:t>Funcionamento correto do aplicativo;</a:t>
            </a:r>
          </a:p>
          <a:p>
            <a:pPr lvl="2">
              <a:buClr>
                <a:schemeClr val="accent1"/>
              </a:buClr>
              <a:buFont typeface="Arial"/>
              <a:buChar char="•"/>
              <a:defRPr/>
            </a:pPr>
            <a:r>
              <a:rPr lang="pt-BR" sz="2800" dirty="0">
                <a:solidFill>
                  <a:schemeClr val="tx1"/>
                </a:solidFill>
              </a:rPr>
              <a:t>Domínio do conteúdo na apresentação.</a:t>
            </a:r>
          </a:p>
          <a:p>
            <a:pPr lvl="1">
              <a:buFont typeface="Arial"/>
              <a:buChar char="•"/>
              <a:defRPr/>
            </a:pPr>
            <a:endParaRPr lang="pt-BR" sz="3000" i="0" dirty="0">
              <a:solidFill>
                <a:schemeClr val="tx1"/>
              </a:solidFill>
            </a:endParaRPr>
          </a:p>
          <a:p>
            <a:pPr lvl="1">
              <a:buFont typeface="Arial"/>
              <a:buChar char="•"/>
              <a:defRPr/>
            </a:pPr>
            <a:r>
              <a:rPr lang="pt-BR" sz="3200" dirty="0">
                <a:solidFill>
                  <a:schemeClr val="tx1"/>
                </a:solidFill>
              </a:rPr>
              <a:t>O aplicativo será executado em um dispositivo Android e um dispositivo iOS.</a:t>
            </a:r>
          </a:p>
          <a:p>
            <a:pPr lvl="1">
              <a:buFont typeface="Arial"/>
              <a:buChar char="•"/>
              <a:defRPr/>
            </a:pPr>
            <a:r>
              <a:rPr lang="pt-BR" sz="3200" dirty="0">
                <a:solidFill>
                  <a:schemeClr val="tx1"/>
                </a:solidFill>
              </a:rPr>
              <a:t>Cada membro da equipe será responsável por um requisito.</a:t>
            </a:r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4800" dirty="0"/>
              <a:t>Incremento 1</a:t>
            </a:r>
            <a:endParaRPr dirty="0"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290548" y="1828801"/>
            <a:ext cx="9304298" cy="4480520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 marL="0" indent="0">
              <a:buNone/>
              <a:defRPr/>
            </a:pPr>
            <a:r>
              <a:rPr lang="pt-BR" sz="3200" dirty="0">
                <a:solidFill>
                  <a:schemeClr val="tx1"/>
                </a:solidFill>
              </a:rPr>
              <a:t>Data de início: 21/08/2026</a:t>
            </a:r>
          </a:p>
          <a:p>
            <a:pPr marL="0" indent="0">
              <a:buNone/>
              <a:defRPr/>
            </a:pPr>
            <a:r>
              <a:rPr lang="pt-BR" sz="3200" dirty="0">
                <a:solidFill>
                  <a:schemeClr val="tx1"/>
                </a:solidFill>
              </a:rPr>
              <a:t>Data da entrega: 18/09/2026 às 18:00</a:t>
            </a:r>
          </a:p>
          <a:p>
            <a:pPr marL="0" indent="0">
              <a:buNone/>
              <a:defRPr/>
            </a:pPr>
            <a:r>
              <a:rPr lang="pt-BR" sz="3200" dirty="0">
                <a:solidFill>
                  <a:schemeClr val="tx1"/>
                </a:solidFill>
              </a:rPr>
              <a:t>Data da apresentação: 18/09/2026</a:t>
            </a:r>
          </a:p>
          <a:p>
            <a:pPr marL="0" indent="0">
              <a:buNone/>
              <a:defRPr/>
            </a:pPr>
            <a:endParaRPr lang="pt-BR" sz="3200" dirty="0"/>
          </a:p>
          <a:p>
            <a:pPr marL="0" indent="0">
              <a:buNone/>
              <a:defRPr/>
            </a:pPr>
            <a:r>
              <a:rPr lang="pt-BR" sz="3200" dirty="0">
                <a:solidFill>
                  <a:schemeClr val="tx1"/>
                </a:solidFill>
              </a:rPr>
              <a:t>Forma de entrega: GitHub ou </a:t>
            </a:r>
            <a:r>
              <a:rPr lang="pt-BR" sz="3200" dirty="0" err="1">
                <a:solidFill>
                  <a:schemeClr val="tx1"/>
                </a:solidFill>
              </a:rPr>
              <a:t>GitLab</a:t>
            </a:r>
            <a:r>
              <a:rPr lang="pt-BR" sz="3200" dirty="0">
                <a:solidFill>
                  <a:schemeClr val="tx1"/>
                </a:solidFill>
              </a:rPr>
              <a:t> (ambos código e documentação)</a:t>
            </a:r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7524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pt-BR" sz="4800" dirty="0"/>
              <a:t>Incremento 1</a:t>
            </a:r>
            <a:endParaRPr dirty="0"/>
          </a:p>
        </p:txBody>
      </p:sp>
      <p:sp>
        <p:nvSpPr>
          <p:cNvPr id="5" name="Espaço Reservado para Conteúdo 2"/>
          <p:cNvSpPr>
            <a:spLocks noGrp="1"/>
          </p:cNvSpPr>
          <p:nvPr>
            <p:ph idx="1"/>
          </p:nvPr>
        </p:nvSpPr>
        <p:spPr bwMode="auto">
          <a:xfrm>
            <a:off x="1290548" y="1828801"/>
            <a:ext cx="9304298" cy="4480520"/>
          </a:xfrm>
        </p:spPr>
        <p:txBody>
          <a:bodyPr vertOverflow="overflow" horzOverflow="clip" vert="horz" wrap="square" lIns="91440" tIns="45720" rIns="91440" bIns="45720" numCol="1" spcCol="0" rtlCol="0" fromWordArt="0" anchor="t" anchorCtr="0" forceAA="0" compatLnSpc="0">
            <a:noAutofit/>
          </a:bodyPr>
          <a:lstStyle/>
          <a:p>
            <a:pPr marL="0" indent="0">
              <a:buNone/>
              <a:defRPr/>
            </a:pPr>
            <a:r>
              <a:rPr lang="pt-BR" sz="3200" dirty="0">
                <a:solidFill>
                  <a:schemeClr val="tx1"/>
                </a:solidFill>
              </a:rPr>
              <a:t>Documentação a ser entregue:</a:t>
            </a:r>
          </a:p>
          <a:p>
            <a:pPr lvl="1">
              <a:buFont typeface="Arial"/>
              <a:buChar char="•"/>
              <a:defRPr/>
            </a:pPr>
            <a:r>
              <a:rPr lang="pt-BR" sz="2800" i="0" dirty="0">
                <a:solidFill>
                  <a:schemeClr val="tx1"/>
                </a:solidFill>
              </a:rPr>
              <a:t>Diagrama de casos de uso</a:t>
            </a:r>
            <a:r>
              <a:rPr lang="pt-BR" sz="2800" dirty="0">
                <a:solidFill>
                  <a:schemeClr val="tx1"/>
                </a:solidFill>
              </a:rPr>
              <a:t> referentes ao requisito;</a:t>
            </a:r>
          </a:p>
          <a:p>
            <a:pPr lvl="1">
              <a:buFont typeface="Arial"/>
              <a:buChar char="•"/>
              <a:defRPr/>
            </a:pPr>
            <a:r>
              <a:rPr lang="pt-BR" sz="2800" i="0" dirty="0">
                <a:solidFill>
                  <a:schemeClr val="tx1"/>
                </a:solidFill>
              </a:rPr>
              <a:t>Descrição de cada caso de uso como um requisito funcional (utilizar apenas o formulário padrão);</a:t>
            </a:r>
          </a:p>
          <a:p>
            <a:pPr lvl="1">
              <a:buFont typeface="Arial"/>
              <a:buChar char="•"/>
              <a:defRPr/>
            </a:pPr>
            <a:r>
              <a:rPr lang="pt-BR" sz="2800" i="0" dirty="0">
                <a:solidFill>
                  <a:schemeClr val="tx1"/>
                </a:solidFill>
              </a:rPr>
              <a:t>Diagrama de classes e respectivo dicionário de dados;</a:t>
            </a:r>
          </a:p>
          <a:p>
            <a:pPr lvl="1">
              <a:buFont typeface="Arial"/>
              <a:buChar char="•"/>
              <a:defRPr/>
            </a:pPr>
            <a:r>
              <a:rPr lang="pt-BR" sz="2800" dirty="0">
                <a:solidFill>
                  <a:schemeClr val="tx1"/>
                </a:solidFill>
              </a:rPr>
              <a:t>Diagrama relacional e respectivo dicionário de dados;</a:t>
            </a:r>
          </a:p>
          <a:p>
            <a:pPr lvl="1">
              <a:buFont typeface="Arial"/>
              <a:buChar char="•"/>
              <a:defRPr/>
            </a:pPr>
            <a:r>
              <a:rPr lang="pt-BR" sz="2800" i="0" dirty="0">
                <a:solidFill>
                  <a:schemeClr val="tx1"/>
                </a:solidFill>
              </a:rPr>
              <a:t>Descrição dos requisitos não funcionais;</a:t>
            </a:r>
          </a:p>
          <a:p>
            <a:pPr lvl="1">
              <a:buFont typeface="Arial"/>
              <a:buChar char="•"/>
              <a:defRPr/>
            </a:pPr>
            <a:r>
              <a:rPr lang="pt-BR" sz="2800" i="0" dirty="0">
                <a:solidFill>
                  <a:schemeClr val="tx1"/>
                </a:solidFill>
              </a:rPr>
              <a:t>Diagrama de sequência de todos os requisitos.</a:t>
            </a:r>
          </a:p>
        </p:txBody>
      </p:sp>
      <p:pic>
        <p:nvPicPr>
          <p:cNvPr id="6" name="Imagem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203404" y="319376"/>
            <a:ext cx="1041606" cy="12059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64464011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Personalizada 26">
      <a:dk1>
        <a:srgbClr val="003300"/>
      </a:dk1>
      <a:lt1>
        <a:srgbClr val="FFFFFF"/>
      </a:lt1>
      <a:dk2>
        <a:srgbClr val="008000"/>
      </a:dk2>
      <a:lt2>
        <a:srgbClr val="D6D3CC"/>
      </a:lt2>
      <a:accent1>
        <a:srgbClr val="003300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Corbel">
      <a:majorFont>
        <a:latin typeface="Corbel"/>
        <a:ea typeface="Arial"/>
        <a:cs typeface="Arial"/>
      </a:majorFont>
      <a:minorFont>
        <a:latin typeface="Corbel"/>
        <a:ea typeface="Arial"/>
        <a:cs typeface="Arial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satMod val="150000"/>
              <a:alpha val="95000"/>
            </a:schemeClr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TM02900743[[fn=Orgânico]]</Template>
  <TotalTime>89</TotalTime>
  <Words>571</Words>
  <Application>Microsoft Office PowerPoint</Application>
  <DocSecurity>0</DocSecurity>
  <PresentationFormat>Widescreen</PresentationFormat>
  <Paragraphs>123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Corbel</vt:lpstr>
      <vt:lpstr>Wingdings 2</vt:lpstr>
      <vt:lpstr>View</vt:lpstr>
      <vt:lpstr>Projeto e Desenvolvimento de Sistemas II</vt:lpstr>
      <vt:lpstr>Calendário</vt:lpstr>
      <vt:lpstr>Calendário</vt:lpstr>
      <vt:lpstr>Incremento 1</vt:lpstr>
      <vt:lpstr>Incremento 1 – Cadastro de organização</vt:lpstr>
      <vt:lpstr>Incremento 1 – Cadastro de comissão</vt:lpstr>
      <vt:lpstr>Incremento 1 – Cadastro de usuário</vt:lpstr>
      <vt:lpstr>Incremento 1 – Configurações de usuário</vt:lpstr>
      <vt:lpstr>Incremento 1 – Informações do sistema</vt:lpstr>
      <vt:lpstr>Incremento 1</vt:lpstr>
      <vt:lpstr>Incremento 1</vt:lpstr>
      <vt:lpstr>Incremento 1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Integrado 2</dc:title>
  <dc:subject/>
  <dc:creator>aluno</dc:creator>
  <cp:keywords/>
  <dc:description/>
  <cp:lastModifiedBy>Tiago Docusse</cp:lastModifiedBy>
  <cp:revision>240</cp:revision>
  <dcterms:created xsi:type="dcterms:W3CDTF">2017-07-05T21:06:24Z</dcterms:created>
  <dcterms:modified xsi:type="dcterms:W3CDTF">2026-08-21T17:45:15Z</dcterms:modified>
  <cp:category/>
  <dc:identifier/>
  <cp:contentStatus/>
  <dc:language/>
  <cp:version/>
</cp:coreProperties>
</file>